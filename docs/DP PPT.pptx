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17.xml" ContentType="application/vnd.openxmlformats-officedocument.presentationml.notes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autoCompressPictures="0" embedTrueTypeFonts="1" saveSubsetFonts="1" strictFirstAndLastChars="0">
  <p:sldMasterIdLst>
    <p:sldMasterId id="2147483648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type="screen16x9" cy="6858000" cx="12192000"/>
  <p:notesSz cx="6858000" cy="9144000"/>
  <p:embeddedFontLst>
    <p:embeddedFont>
      <p:font typeface="Arial Narrow" panose="020B0606020202030204" pitchFamily="34" charset="0"/>
      <p:regular r:id="rId24"/>
      <p:bold r:id="rId25"/>
      <p:italic r:id="rId26"/>
      <p:boldItalic r:id="rId27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p="http://schemas.openxmlformats.org/presentationml/2006/main" xmlns:r="http://schemas.openxmlformats.org/officeDocument/2006/relationships" xmlns:a="http://schemas.openxmlformats.org/drawingml/2006/main">
  <p:showPr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3CDD818E-ADFA-4579-856F-A3140DA02BD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F1E8"/>
          </a:solidFill>
        </a:fill>
      </a:tcStyle>
    </a:wholeTbl>
    <a:band1H>
      <a:tcStyle>
        <a:tcBdr/>
        <a:fill>
          <a:solidFill>
            <a:srgbClr val="D4E2CE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D4E2CE"/>
          </a:solidFill>
        </a:fill>
      </a:tcStyle>
    </a:band1V>
    <a:band2V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6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6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p="http://schemas.openxmlformats.org/presentationml/2006/main" xmlns:r="http://schemas.openxmlformats.org/officeDocument/2006/relationships" xmlns:a="http://schemas.openxmlformats.org/drawing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font" Target="fonts/font1.fntdata"/><Relationship Id="rId25" Type="http://schemas.openxmlformats.org/officeDocument/2006/relationships/font" Target="fonts/font2.fntdata"/><Relationship Id="rId26" Type="http://schemas.openxmlformats.org/officeDocument/2006/relationships/font" Target="fonts/font3.fntdata"/><Relationship Id="rId27" Type="http://schemas.openxmlformats.org/officeDocument/2006/relationships/font" Target="fonts/font4.fntdata"/><Relationship Id="rId28" Type="http://schemas.openxmlformats.org/officeDocument/2006/relationships/tableStyles" Target="tableStyle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0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48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8749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Autofit/>
          </a:bodyPr>
          <a:lstStyle>
            <a:lvl1pPr algn="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8750" name="Google Shape;5;n"/>
          <p:cNvSpPr>
            <a:spLocks noChangeAspect="1" noRot="1" noGrp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8751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Autofit/>
          </a:bodyPr>
          <a:lstStyle>
            <a:lvl1pPr algn="l" indent="-228600" lvl="0" marL="4572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228600" lvl="1" marL="9144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228600" lvl="2" marL="13716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228600" lvl="3" marL="18288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228600" lvl="4" marL="22860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228600" lvl="5" marL="27432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228600" lvl="6" marL="32004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228600" lvl="7" marL="36576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228600" lvl="8" marL="411480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8752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/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8753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/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p>
            <a:pPr algn="r" indent="0" lvl="0" marL="0" marR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cap="none" sz="1200" i="0" lang="en-US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cap="none" sz="1200" i="0" strike="noStrike" u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hlink="hlink" folHlink="folHlink"/>
  <p:notes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sz="1400" i="0" strike="noStrike" u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8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589" name="Google Shape;86;p1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4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595" name="Google Shape;94;p2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9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00" name="Google Shape;102;p3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Google Shape;10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05" name="Google Shape;109;p4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9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10" name="Google Shape;116;p5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5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8" name="Google Shape;12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19" name="Google Shape;124;p6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8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3" name="Google Shape;12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24" name="Google Shape;124;p6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7" name="Google Shape;12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28" name="Google Shape;130;p7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5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Google Shape;13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42" name="Google Shape;136;p8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8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14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47" name="Google Shape;144;p9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2" name="Google Shape;15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53" name="Google Shape;151;p10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4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15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58" name="Google Shape;158;p11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2" name="Google Shape;16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63" name="Google Shape;165;p12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7" name="Google Shape;17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68" name="Google Shape;172;p13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2" name="Google Shape;17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673" name="Google Shape;179;p14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9" name="Google Shape;19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700" name="Google Shape;192;p16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4" name="Google Shape;19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/>
        </p:spPr>
        <p:txBody>
          <a:bodyPr anchor="t" anchorCtr="0" bIns="45700" lIns="91425" rIns="91425" spcFirstLastPara="1" tIns="45700" wrap="square">
            <a:noAutofit/>
          </a:bodyPr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8705" name="Google Shape;192;p16:notes"/>
          <p:cNvSpPr>
            <a:spLocks noChangeAspect="1" noRot="1"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ah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24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Google Shape;1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582" name="Google Shape;1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3429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algn="l" indent="-3429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algn="l" indent="-3429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algn="l" indent="-3429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algn="l" indent="-3429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algn="l" indent="-3429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algn="l" indent="-3429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algn="l" indent="-3429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algn="l" indent="-3429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/>
        </p:txBody>
      </p:sp>
      <p:sp>
        <p:nvSpPr>
          <p:cNvPr id="1048583" name="Google Shape;1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584" name="Google Shape;1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585" name="Google Shape;2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5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1" name="Google Shape;2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612" name="Google Shape;2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613" name="Google Shape;2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62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9" name="Google Shape;26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630" name="Google Shape;27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/>
          <a:noFill/>
          <a:ln>
            <a:noFill/>
          </a:ln>
        </p:spPr>
        <p:txBody>
          <a:bodyPr anchor="b" anchorCtr="0" bIns="45700" lIns="91425" rIns="91425" spcFirstLastPara="1" tIns="45700" wrap="square">
            <a:normAutofit/>
          </a:bodyPr>
          <a:lstStyle>
            <a:lvl1pPr algn="l" indent="-2286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algn="l" indent="-2286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algn="l" indent="-2286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algn="l" indent="-2286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algn="l" indent="-2286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algn="l" indent="-2286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algn="l" indent="-2286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algn="l" indent="-2286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algn="l" indent="-2286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048631" name="Google Shape;28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3429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algn="l" indent="-3429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algn="l" indent="-3429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algn="l" indent="-3429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algn="l" indent="-3429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algn="l" indent="-3429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algn="l" indent="-3429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algn="l" indent="-3429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algn="l" indent="-3429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/>
        </p:txBody>
      </p:sp>
      <p:sp>
        <p:nvSpPr>
          <p:cNvPr id="1048632" name="Google Shape;29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/>
          <a:noFill/>
          <a:ln>
            <a:noFill/>
          </a:ln>
        </p:spPr>
        <p:txBody>
          <a:bodyPr anchor="b" anchorCtr="0" bIns="45700" lIns="91425" rIns="91425" spcFirstLastPara="1" tIns="45700" wrap="square">
            <a:normAutofit/>
          </a:bodyPr>
          <a:lstStyle>
            <a:lvl1pPr algn="l" indent="-2286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algn="l" indent="-2286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algn="l" indent="-2286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algn="l" indent="-2286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algn="l" indent="-2286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algn="l" indent="-2286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algn="l" indent="-2286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algn="l" indent="-2286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algn="l" indent="-2286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048633" name="Google Shape;30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3429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algn="l" indent="-3429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algn="l" indent="-3429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algn="l" indent="-3429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algn="l" indent="-3429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algn="l" indent="-3429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algn="l" indent="-3429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algn="l" indent="-3429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algn="l" indent="-3429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/>
        </p:txBody>
      </p:sp>
      <p:sp>
        <p:nvSpPr>
          <p:cNvPr id="1048634" name="Google Shape;3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635" name="Google Shape;3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636" name="Google Shape;3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98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Google Shape;35;p2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/>
          <a:noFill/>
          <a:ln>
            <a:noFill/>
          </a:ln>
        </p:spPr>
        <p:txBody>
          <a:bodyPr anchor="b" anchorCtr="0" bIns="45700" lIns="91425" rIns="91425" spcFirstLastPara="1" tIns="45700" wrap="square">
            <a:normAutofit/>
          </a:bodyPr>
          <a:lstStyle>
            <a:lvl1pPr algn="ctr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29" name="Google Shape;36;p2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ctr" lv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 lvl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 lvl="2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 lvl="3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 lvl="4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 lvl="5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 lvl="6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 lvl="7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 lvl="8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048730" name="Google Shape;3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31" name="Google Shape;3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32" name="Google Shape;3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99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33" name="Google Shape;41;p2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/>
          <a:noFill/>
          <a:ln>
            <a:noFill/>
          </a:ln>
        </p:spPr>
        <p:txBody>
          <a:bodyPr anchor="b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34" name="Google Shape;42;p2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2286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algn="l" indent="-2286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algn="l" indent="-2286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algn="l" indent="-2286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algn="l" indent="-2286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algn="l" indent="-2286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algn="l" indent="-2286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algn="l" indent="-2286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algn="l" indent="-2286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48735" name="Google Shape;4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36" name="Google Shape;4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37" name="Google Shape;4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94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6" name="Google Shape;47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07" name="Google Shape;48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3429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algn="l" indent="-3429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algn="l" indent="-3429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algn="l" indent="-3429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algn="l" indent="-3429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algn="l" indent="-3429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algn="l" indent="-3429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algn="l" indent="-3429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algn="l" indent="-3429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/>
        </p:txBody>
      </p:sp>
      <p:sp>
        <p:nvSpPr>
          <p:cNvPr id="1048708" name="Google Shape;49;p2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3429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algn="l" indent="-3429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algn="l" indent="-3429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algn="l" indent="-3429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algn="l" indent="-3429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algn="l" indent="-3429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algn="l" indent="-3429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algn="l" indent="-3429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algn="l" indent="-3429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/>
        </p:txBody>
      </p:sp>
      <p:sp>
        <p:nvSpPr>
          <p:cNvPr id="1048709" name="Google Shape;5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10" name="Google Shape;5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11" name="Google Shape;5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00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38" name="Google Shape;5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39" name="Google Shape;5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40" name="Google Shape;5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41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0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42" name="Google Shape;59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/>
          <a:noFill/>
          <a:ln>
            <a:noFill/>
          </a:ln>
        </p:spPr>
        <p:txBody>
          <a:bodyPr anchor="b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43" name="Google Shape;60;p2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318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algn="l" indent="-4064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algn="l" indent="-3810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algn="l" indent="-3556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algn="l" indent="-3556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algn="l" indent="-3556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algn="l" indent="-3556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algn="l" indent="-3556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algn="l" indent="-3556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048744" name="Google Shape;61;p2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2286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algn="l" indent="-2286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algn="l" indent="-2286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algn="l" indent="-2286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algn="l" indent="-2286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algn="l" indent="-2286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algn="l" indent="-2286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algn="l" indent="-2286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algn="l" indent="-2286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048745" name="Google Shape;6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46" name="Google Shape;6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47" name="Google Shape;6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96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Google Shape;66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/>
          <a:noFill/>
          <a:ln>
            <a:noFill/>
          </a:ln>
        </p:spPr>
        <p:txBody>
          <a:bodyPr anchor="b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18" name="Google Shape;67;p2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/>
          <a:noFill/>
          <a:ln>
            <a:noFill/>
          </a:ln>
        </p:spPr>
      </p:sp>
      <p:sp>
        <p:nvSpPr>
          <p:cNvPr id="1048719" name="Google Shape;68;p2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2286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algn="l" indent="-2286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algn="l" indent="-2286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algn="l" indent="-2286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algn="l" indent="-2286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algn="l" indent="-2286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algn="l" indent="-2286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algn="l" indent="-2286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algn="l" indent="-2286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048720" name="Google Shape;69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21" name="Google Shape;70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22" name="Google Shape;71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97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3" name="Google Shape;73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24" name="Google Shape;74;p2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3429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algn="l" indent="-3429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algn="l" indent="-3429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algn="l" indent="-3429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algn="l" indent="-3429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algn="l" indent="-3429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algn="l" indent="-3429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algn="l" indent="-3429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algn="l" indent="-3429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/>
        </p:txBody>
      </p:sp>
      <p:sp>
        <p:nvSpPr>
          <p:cNvPr id="1048725" name="Google Shape;75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26" name="Google Shape;76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27" name="Google Shape;77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95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2" name="Google Shape;79;p2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13" name="Google Shape;80;p2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342900" lvl="0" marL="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1pPr>
            <a:lvl2pPr algn="l" indent="-342900" lvl="1" marL="914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2pPr>
            <a:lvl3pPr algn="l" indent="-342900" lvl="2" marL="1371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3pPr>
            <a:lvl4pPr algn="l" indent="-342900" lvl="3" marL="1828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4pPr>
            <a:lvl5pPr algn="l" indent="-342900" lvl="4" marL="22860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5pPr>
            <a:lvl6pPr algn="l" indent="-342900" lvl="5" marL="27432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6pPr>
            <a:lvl7pPr algn="l" indent="-342900" lvl="6" marL="32004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7pPr>
            <a:lvl8pPr algn="l" indent="-342900" lvl="7" marL="36576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8pPr>
            <a:lvl9pPr algn="l" indent="-342900" lvl="8" marL="411480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lvl9pPr>
          </a:lstStyle>
          <a:p/>
        </p:txBody>
      </p:sp>
      <p:sp>
        <p:nvSpPr>
          <p:cNvPr id="1048714" name="Google Shape;8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15" name="Google Shape;8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algn="l" lvl="1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algn="l" lvl="2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algn="l" lvl="3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algn="l" lvl="4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algn="l" lvl="5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algn="l" lvl="6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algn="l" lvl="7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algn="l" lvl="8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/>
        </p:txBody>
      </p:sp>
      <p:sp>
        <p:nvSpPr>
          <p:cNvPr id="1048716" name="Google Shape;8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>
              <a:spcBef>
                <a:spcPts val="0"/>
              </a:spcBef>
              <a:buNone/>
            </a:lvl1pPr>
            <a:lvl2pPr algn="r" indent="0" lvl="1" marL="0">
              <a:spcBef>
                <a:spcPts val="0"/>
              </a:spcBef>
              <a:buNone/>
            </a:lvl2pPr>
            <a:lvl3pPr algn="r" indent="0" lvl="2" marL="0">
              <a:spcBef>
                <a:spcPts val="0"/>
              </a:spcBef>
              <a:buNone/>
            </a:lvl3pPr>
            <a:lvl4pPr algn="r" indent="0" lvl="3" marL="0">
              <a:spcBef>
                <a:spcPts val="0"/>
              </a:spcBef>
              <a:buNone/>
            </a:lvl4pPr>
            <a:lvl5pPr algn="r" indent="0" lvl="4" marL="0">
              <a:spcBef>
                <a:spcPts val="0"/>
              </a:spcBef>
              <a:buNone/>
            </a:lvl5pPr>
            <a:lvl6pPr algn="r" indent="0" lvl="5" marL="0">
              <a:spcBef>
                <a:spcPts val="0"/>
              </a:spcBef>
              <a:buNone/>
            </a:lvl6pPr>
            <a:lvl7pPr algn="r" indent="0" lvl="6" marL="0">
              <a:spcBef>
                <a:spcPts val="0"/>
              </a:spcBef>
              <a:buNone/>
            </a:lvl7pPr>
            <a:lvl8pPr algn="r" indent="0" lvl="7" marL="0">
              <a:spcBef>
                <a:spcPts val="0"/>
              </a:spcBef>
              <a:buNone/>
            </a:lvl8pPr>
            <a:lvl9pPr algn="r" indent="0" lvl="8" marL="0">
              <a:spcBef>
                <a:spcPts val="0"/>
              </a:spcBef>
              <a:buNone/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2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cap="none" sz="44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48577" name="Google Shape;11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sz="2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sz="24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sz="20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8578" name="Google Shape;12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8579" name="Google Shape;13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sz="1800" i="0" strike="noStrike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8580" name="Google Shape;14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sz="1200" i="0" strike="noStrike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1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sz="1400" i="0" strike="noStrike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6" name="Google Shape;88;p1"/>
          <p:cNvSpPr txBox="1">
            <a:spLocks noGrp="1"/>
          </p:cNvSpPr>
          <p:nvPr>
            <p:ph type="body" idx="1"/>
          </p:nvPr>
        </p:nvSpPr>
        <p:spPr>
          <a:xfrm>
            <a:off x="0" y="2342250"/>
            <a:ext cx="12119100" cy="41946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 fontScale="100000" lnSpcReduction="10000"/>
          </a:bodyPr>
          <a:p>
            <a:pPr algn="ctr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rPr b="1" dirty="0" sz="3600" lang="en-US">
                <a:latin typeface="Arial Narrow"/>
                <a:ea typeface="Arial Narrow"/>
                <a:cs typeface="Arial Narrow"/>
                <a:sym typeface="Arial Narrow"/>
              </a:rPr>
              <a:t>DEPARTMENT OF COMPUTER SCIENCE AND ENGINEERING</a:t>
            </a:r>
            <a:endParaRPr dirty="0">
              <a:latin typeface="Arial Narrow"/>
              <a:ea typeface="Arial Narrow"/>
              <a:cs typeface="Arial Narrow"/>
              <a:sym typeface="Arial Narrow"/>
            </a:endParaRPr>
          </a:p>
          <a:p>
            <a:pPr algn="ctr" indent="0" marL="0">
              <a:buSzPts val="3600"/>
              <a:buNone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20CS7503 &amp; DESIGN PROJECT – III</a:t>
            </a:r>
          </a:p>
          <a:p>
            <a:pPr algn="ctr" indent="0" marL="0">
              <a:buSzPts val="3600"/>
              <a:buNone/>
            </a:pPr>
            <a:endParaRPr b="1" dirty="0" lang="en-US">
              <a:latin typeface="Arial Narrow"/>
              <a:ea typeface="Arial Narrow"/>
              <a:cs typeface="Arial Narrow"/>
              <a:sym typeface="Arial Narrow"/>
            </a:endParaRPr>
          </a:p>
          <a:p>
            <a:pPr algn="ctr" indent="0" lvl="0" marL="0">
              <a:buSzPts val="3600"/>
              <a:buNone/>
            </a:pPr>
            <a:r>
              <a:rPr b="1" dirty="0" sz="3000" lang="en-US"/>
              <a:t>END SEMESTER PRACTICAL EXAMINATION- NOV / DEC 2025</a:t>
            </a:r>
            <a:endParaRPr dirty="0" sz="3000" lang="en-US"/>
          </a:p>
          <a:p>
            <a:pPr algn="ctr" indent="0" lvl="0" marL="0">
              <a:buSzPts val="2800"/>
              <a:buNone/>
            </a:pPr>
            <a:r>
              <a:rPr b="1" dirty="0" sz="3000" lang="en-US" u="sng">
                <a:latin typeface="Arial Narrow"/>
                <a:ea typeface="Arial Narrow"/>
                <a:cs typeface="Arial Narrow"/>
                <a:sym typeface="Arial Narrow"/>
              </a:rPr>
              <a:t>REVIEW PRESENTATION</a:t>
            </a:r>
            <a:endParaRPr dirty="0" sz="3000" lang="en-US">
              <a:latin typeface="Arial Narrow"/>
              <a:ea typeface="Arial Narrow"/>
              <a:cs typeface="Arial Narrow"/>
              <a:sym typeface="Arial Narrow"/>
            </a:endParaRPr>
          </a:p>
          <a:p>
            <a:pPr algn="ctr" indent="0" marL="0">
              <a:buSzPts val="3600"/>
              <a:buNone/>
            </a:pPr>
            <a:endParaRPr b="1" dirty="0">
              <a:latin typeface="Arial Narrow"/>
              <a:ea typeface="Arial Narrow"/>
              <a:cs typeface="Arial Narrow"/>
              <a:sym typeface="Arial Narrow"/>
            </a:endParaRP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b="1" dirty="0" sz="2400" lang="en-US">
                <a:latin typeface="Arial Narrow"/>
                <a:ea typeface="Arial Narrow"/>
                <a:cs typeface="Arial Narrow"/>
                <a:sym typeface="Arial Narrow"/>
              </a:rPr>
              <a:t>Batch No. : 12</a:t>
            </a:r>
            <a:endParaRPr dirty="0" lang="en-US">
              <a:latin typeface="Arial Narrow"/>
              <a:ea typeface="Arial Narrow"/>
              <a:cs typeface="Arial Narrow"/>
              <a:sym typeface="Arial Narrow"/>
            </a:endParaRP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b="1" dirty="0" sz="2400" lang="en-US">
                <a:latin typeface="Arial Narrow"/>
                <a:ea typeface="Arial Narrow"/>
                <a:cs typeface="Arial Narrow"/>
                <a:sym typeface="Arial Narrow"/>
              </a:rPr>
              <a:t>Date: 01.1</a:t>
            </a:r>
            <a:r>
              <a:rPr b="1" dirty="0" sz="2400" lang="en-US">
                <a:latin typeface="Arial Narrow"/>
                <a:ea typeface="Arial Narrow"/>
                <a:cs typeface="Arial Narrow"/>
                <a:sym typeface="Arial Narrow"/>
              </a:rPr>
              <a:t>2</a:t>
            </a:r>
            <a:r>
              <a:rPr b="1" dirty="0" sz="2400" lang="en-US">
                <a:latin typeface="Arial Narrow"/>
                <a:ea typeface="Arial Narrow"/>
                <a:cs typeface="Arial Narrow"/>
                <a:sym typeface="Arial Narrow"/>
              </a:rPr>
              <a:t>.2025</a:t>
            </a:r>
            <a:endParaRPr altLang="en-US" lang="zh-CN"/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b="1" dirty="0" sz="2400" lang="en-US">
                <a:latin typeface="Arial Narrow"/>
                <a:ea typeface="Arial Narrow"/>
                <a:cs typeface="Arial Narrow"/>
                <a:sym typeface="Arial Narrow"/>
              </a:rPr>
              <a:t>Session: FN</a:t>
            </a:r>
            <a:endParaRPr b="1"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48587" name="Google Shape;89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91;p1"/>
          <p:cNvPicPr preferRelativeResize="0">
            <a:picLocks/>
          </p:cNvPicPr>
          <p:nvPr/>
        </p:nvPicPr>
        <p:blipFill>
          <a:blip xmlns:r="http://schemas.openxmlformats.org/officeDocument/2006/relationships" r:embed="rId1">
            <a:alphaModFix/>
          </a:blip>
          <a:srcRect l="16357" r="14907" b="8148"/>
          <a:stretch>
            <a:fillRect/>
          </a:stretch>
        </p:blipFill>
        <p:spPr>
          <a:xfrm>
            <a:off x="11215585" y="65332"/>
            <a:ext cx="903515" cy="511635"/>
          </a:xfrm>
          <a:prstGeom prst="rect"/>
          <a:noFill/>
          <a:ln>
            <a:noFill/>
          </a:ln>
        </p:spPr>
      </p:pic>
      <p:pic>
        <p:nvPicPr>
          <p:cNvPr id="2097153" name="Picture 2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3261789" y="0"/>
            <a:ext cx="5348811" cy="1873595"/>
          </a:xfrm>
          <a:prstGeom prst="rect"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0" name="Google Shape;96;p2"/>
          <p:cNvSpPr txBox="1">
            <a:spLocks noGrp="1"/>
          </p:cNvSpPr>
          <p:nvPr>
            <p:ph type="body" idx="1"/>
          </p:nvPr>
        </p:nvSpPr>
        <p:spPr>
          <a:xfrm>
            <a:off x="72900" y="435929"/>
            <a:ext cx="12119100" cy="7929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ctr" indent="0" lvl="0" marL="0">
              <a:buSzPts val="3600"/>
              <a:buNone/>
            </a:pPr>
            <a:r>
              <a:rPr b="1" dirty="0" sz="4000" lang="en-IN">
                <a:latin typeface="+mj-lt"/>
              </a:rPr>
              <a:t>AI POWERED PHISHING DETECTOR</a:t>
            </a:r>
            <a:endParaRPr b="1" dirty="0" sz="4000" lang="en-IN">
              <a:latin typeface="+mj-lt"/>
              <a:ea typeface="Arial Narrow"/>
              <a:cs typeface="Arial Narrow"/>
              <a:sym typeface="Arial Narrow"/>
            </a:endParaRPr>
          </a:p>
        </p:txBody>
      </p:sp>
      <p:sp>
        <p:nvSpPr>
          <p:cNvPr id="1048591" name="Google Shape;97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8592" name="Google Shape;98;p2"/>
          <p:cNvSpPr txBox="1">
            <a:spLocks noGrp="1"/>
          </p:cNvSpPr>
          <p:nvPr>
            <p:ph type="body" idx="1"/>
          </p:nvPr>
        </p:nvSpPr>
        <p:spPr>
          <a:xfrm>
            <a:off x="880907" y="3485166"/>
            <a:ext cx="3046350" cy="27249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b="1" dirty="0" sz="2400" lang="en-US">
                <a:latin typeface="Arial Narrow" panose="020B0606020202030204" pitchFamily="34" charset="0"/>
                <a:ea typeface="Times New Roman"/>
                <a:cs typeface="Times New Roman"/>
                <a:sym typeface="Times New Roman"/>
              </a:rPr>
              <a:t>Guide Name:</a:t>
            </a:r>
          </a:p>
          <a:p>
            <a:pPr indent="0" lvl="0" marL="0">
              <a:buSzPts val="2400"/>
              <a:buNone/>
            </a:pPr>
            <a:r>
              <a:rPr dirty="0" sz="2400" lang="en-US">
                <a:latin typeface="Arial Narrow" panose="020B0606020202030204" pitchFamily="34" charset="0"/>
              </a:rPr>
              <a:t>Mr. D. P. Devan, Assistant Professor, </a:t>
            </a:r>
          </a:p>
          <a:p>
            <a:pPr indent="0" lvl="0" marL="0">
              <a:buSzPts val="2400"/>
              <a:buNone/>
            </a:pPr>
            <a:r>
              <a:rPr dirty="0" sz="2400" lang="en-US">
                <a:latin typeface="Arial Narrow" panose="020B0606020202030204" pitchFamily="34" charset="0"/>
              </a:rPr>
              <a:t>Department of CSE</a:t>
            </a:r>
            <a:endParaRPr b="1" dirty="0" sz="2400">
              <a:latin typeface="Arial Narrow" panose="020B0606020202030204" pitchFamily="34" charset="0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8593" name="Google Shape;99;p2"/>
          <p:cNvSpPr txBox="1">
            <a:spLocks noGrp="1"/>
          </p:cNvSpPr>
          <p:nvPr>
            <p:ph type="body" idx="1"/>
          </p:nvPr>
        </p:nvSpPr>
        <p:spPr>
          <a:xfrm>
            <a:off x="5869858" y="3485166"/>
            <a:ext cx="5441235" cy="27249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b="1" dirty="0" sz="2400" lang="en-US">
                <a:latin typeface="Arial Narrow" panose="020B0606020202030204" pitchFamily="34" charset="0"/>
                <a:ea typeface="Times New Roman"/>
                <a:cs typeface="Times New Roman"/>
                <a:sym typeface="Times New Roman"/>
              </a:rPr>
              <a:t>Team Members:</a:t>
            </a: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dirty="0" sz="240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R. Aravinth Krishna (811722104012)</a:t>
            </a: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dirty="0" sz="240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K. Arun (811722104016)</a:t>
            </a: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dirty="0" sz="240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M. </a:t>
            </a:r>
            <a:r>
              <a:rPr dirty="0" sz="2400" lang="en-US" err="1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Jayanan</a:t>
            </a:r>
            <a:r>
              <a:rPr dirty="0" sz="240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 (811722104062)</a:t>
            </a: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b="1" dirty="0">
              <a:latin typeface="Arial Narrow" panose="020B0606020202030204" pitchFamily="34" charset="0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6" name="Google Shape;104;p3"/>
          <p:cNvSpPr txBox="1">
            <a:spLocks noGrp="1"/>
          </p:cNvSpPr>
          <p:nvPr>
            <p:ph type="title"/>
          </p:nvPr>
        </p:nvSpPr>
        <p:spPr>
          <a:xfrm>
            <a:off x="838200" y="317737"/>
            <a:ext cx="10515600" cy="9495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indent="0" lvl="0" mar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OBJECTIVE OF THE PROJECT</a:t>
            </a:r>
            <a:endParaRPr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48597" name="Google Shape;105;p3"/>
          <p:cNvSpPr txBox="1">
            <a:spLocks noGrp="1"/>
          </p:cNvSpPr>
          <p:nvPr>
            <p:ph type="body" idx="1"/>
          </p:nvPr>
        </p:nvSpPr>
        <p:spPr>
          <a:xfrm>
            <a:off x="838200" y="2044874"/>
            <a:ext cx="10515600" cy="41656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just" indent="-514350" lvl="0" marL="514350">
              <a:spcBef>
                <a:spcPts val="1200"/>
              </a:spcBef>
              <a:buClr>
                <a:schemeClr val="tx1"/>
              </a:buClr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To design a </a:t>
            </a:r>
            <a:r>
              <a:rPr b="1"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browser-based AI system 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that detects phishing websites in real time.</a:t>
            </a:r>
          </a:p>
          <a:p>
            <a:pPr algn="just" indent="-514350" lvl="0" marL="514350">
              <a:spcBef>
                <a:spcPts val="1200"/>
              </a:spcBef>
              <a:buClr>
                <a:schemeClr val="tx1"/>
              </a:buClr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To integrate ML classification with SSL and domain-based checks for accuracy.</a:t>
            </a:r>
          </a:p>
          <a:p>
            <a:pPr algn="just" indent="-514350" lvl="0" marL="514350">
              <a:spcBef>
                <a:spcPts val="1200"/>
              </a:spcBef>
              <a:buClr>
                <a:schemeClr val="tx1"/>
              </a:buClr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To ensure </a:t>
            </a:r>
            <a:r>
              <a:rPr b="1"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safe and seamless browsing 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with a lightweight, secure Chrome Extension.</a:t>
            </a:r>
          </a:p>
          <a:p>
            <a:pPr algn="just" indent="-514350" lvl="0" marL="514350">
              <a:spcBef>
                <a:spcPts val="1200"/>
              </a:spcBef>
              <a:buClr>
                <a:schemeClr val="tx1"/>
              </a:buClr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To create a centralized database that continuously learns and adapts from new phishing patterns for improved detection over time.</a:t>
            </a:r>
          </a:p>
        </p:txBody>
      </p:sp>
      <p:sp>
        <p:nvSpPr>
          <p:cNvPr id="1048598" name="Google Shape;10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3</a:t>
            </a:fld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5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Google Shape;111;p4"/>
          <p:cNvSpPr txBox="1">
            <a:spLocks noGrp="1"/>
          </p:cNvSpPr>
          <p:nvPr>
            <p:ph type="title"/>
          </p:nvPr>
        </p:nvSpPr>
        <p:spPr>
          <a:xfrm>
            <a:off x="0" y="276037"/>
            <a:ext cx="12192000" cy="8100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indent="0" lvl="0" mar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INTRODUCTION</a:t>
            </a:r>
            <a:endParaRPr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48602" name="Google Shape;112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 fontScale="96429"/>
          </a:bodyPr>
          <a:p>
            <a:pPr algn="just" indent="-514350" lvl="0" marL="514350">
              <a:spcBef>
                <a:spcPts val="1200"/>
              </a:spcBef>
              <a:buSzPts val="2800"/>
              <a:buAutoNum type="arabicPeriod"/>
            </a:pPr>
            <a:r>
              <a:rPr b="1"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Phishing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 is one of the most common and dangerous online threats targeting user data.</a:t>
            </a:r>
          </a:p>
          <a:p>
            <a:pPr algn="just" indent="-514350" lvl="0" marL="514350">
              <a:spcBef>
                <a:spcPts val="1200"/>
              </a:spcBef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Traditional blacklist systems </a:t>
            </a:r>
            <a:r>
              <a:rPr b="1"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fail to detect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 newly launched phishing sites.</a:t>
            </a:r>
          </a:p>
          <a:p>
            <a:pPr algn="just" indent="-514350" lvl="0" marL="514350">
              <a:spcBef>
                <a:spcPts val="1200"/>
              </a:spcBef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AI models can analyze </a:t>
            </a:r>
            <a:r>
              <a:rPr b="1"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URL patterns and anomalies 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to detect suspicious links.</a:t>
            </a:r>
          </a:p>
          <a:p>
            <a:pPr algn="just" indent="-514350" lvl="0" marL="514350">
              <a:spcBef>
                <a:spcPts val="1200"/>
              </a:spcBef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Our Chrome Extension integration offers instant, on-page phishing alerts to users.</a:t>
            </a:r>
          </a:p>
          <a:p>
            <a:pPr algn="just" indent="-514350" lvl="0" marL="514350">
              <a:spcBef>
                <a:spcPts val="1200"/>
              </a:spcBef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The system merges AI, SSL validation, and database checks for better reliability.</a:t>
            </a:r>
            <a:endParaRPr dirty="0">
              <a:latin typeface="Arial Narrow" panose="020B0606020202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48603" name="Google Shape;11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4</a:t>
            </a:fld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8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6" name="Google Shape;118;p5"/>
          <p:cNvSpPr/>
          <p:nvPr/>
        </p:nvSpPr>
        <p:spPr>
          <a:xfrm>
            <a:off x="8753993" y="62420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marR="0" rtl="0">
              <a:spcBef>
                <a:spcPts val="0"/>
              </a:spcBef>
              <a:spcAft>
                <a:spcPts val="0"/>
              </a:spcAft>
              <a:buNone/>
            </a:pPr>
            <a:endParaRPr b="0" cap="none" sz="1200" i="0" strike="noStrike" u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607" name="Google Shape;11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5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08" name="Google Shape;120;p5"/>
          <p:cNvSpPr/>
          <p:nvPr/>
        </p:nvSpPr>
        <p:spPr>
          <a:xfrm>
            <a:off x="68855" y="0"/>
            <a:ext cx="12054300" cy="7080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spAutoFit/>
          </a:bodyPr>
          <a:p>
            <a:pPr algn="ctr" indent="0" lvl="0" marL="0" marR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sz="4000" lang="en-US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LITERATURE SURVEY</a:t>
            </a:r>
            <a:endParaRPr>
              <a:latin typeface="Arial Narrow"/>
              <a:ea typeface="Arial Narrow"/>
              <a:cs typeface="Arial Narrow"/>
              <a:sym typeface="Arial Narrow"/>
            </a:endParaRPr>
          </a:p>
        </p:txBody>
      </p:sp>
      <p:graphicFrame>
        <p:nvGraphicFramePr>
          <p:cNvPr id="4194304" name="Google Shape;121;p5"/>
          <p:cNvGraphicFramePr>
            <a:graphicFrameLocks/>
          </p:cNvGraphicFramePr>
          <p:nvPr/>
        </p:nvGraphicFramePr>
        <p:xfrm>
          <a:off x="-10160" y="708000"/>
          <a:ext cx="12202161" cy="6126510"/>
        </p:xfrm>
        <a:graphic>
          <a:graphicData uri="http://schemas.openxmlformats.org/drawingml/2006/table">
            <a:tbl>
              <a:tblPr firstRow="1" bandRow="1">
                <a:noFill/>
                <a:tableStyleId>{3CDD818E-ADFA-4579-856F-A3140DA02BD1}</a:tableStyleId>
              </a:tblPr>
              <a:tblGrid>
                <a:gridCol w="3037339"/>
                <a:gridCol w="3027179"/>
                <a:gridCol w="3027179"/>
                <a:gridCol w="3110464"/>
              </a:tblGrid>
              <a:tr h="608762">
                <a:tc>
                  <a:txBody>
                    <a:bodyPr/>
                    <a:p>
                      <a:pPr algn="ctr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dirty="0" sz="2400" lang="en-US" strike="noStrike" u="none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Arial Narrow"/>
                          <a:cs typeface="Times New Roman" panose="02020603050405020304" pitchFamily="18" charset="0"/>
                          <a:sym typeface="Arial Narrow"/>
                        </a:rPr>
                        <a:t>TITLE OF PAPER</a:t>
                      </a: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ctr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dirty="0" sz="2400" lang="en-US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Arial Narrow"/>
                          <a:cs typeface="Times New Roman" panose="02020603050405020304" pitchFamily="18" charset="0"/>
                          <a:sym typeface="Arial Narrow"/>
                        </a:rPr>
                        <a:t>AUTHOR(S)</a:t>
                      </a: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ctr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dirty="0" sz="2400" lang="en-US" strike="noStrike" u="none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Arial Narrow"/>
                          <a:cs typeface="Times New Roman" panose="02020603050405020304" pitchFamily="18" charset="0"/>
                          <a:sym typeface="Arial Narrow"/>
                        </a:rPr>
                        <a:t>PAPER GIST</a:t>
                      </a: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ctr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2400" lang="en-US" strike="noStrike" u="none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Arial Narrow"/>
                          <a:cs typeface="Times New Roman" panose="02020603050405020304" pitchFamily="18" charset="0"/>
                          <a:sym typeface="Arial Narrow"/>
                        </a:rPr>
                        <a:t>TECHNOLOGY USED</a:t>
                      </a:r>
                      <a:endParaRPr cap="none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</a:tr>
              <a:tr h="2161019"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Phishing or Not Phishing? A Survey on the Detection of Phishing Websites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V. Vignesh, S. B. Goyal, R. Maheswari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Access, 2023</a:t>
                      </a:r>
                      <a:endParaRPr cap="none" dirty="0" sz="2400" lang="en-IN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Covers blacklist/whitelist methods, similarity-based detection, ML and DL approaches for phishing detection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</a:tr>
              <a:tr h="2161019"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Survey of Intelligent Detection Designs of HTML URL Phishing Attacks</a:t>
                      </a: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lang="en-IN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de-DE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H. Chen, J. Xu, Y. Zhang</a:t>
                      </a:r>
                      <a:endParaRPr cap="none" dirty="0" sz="2400" lang="de-DE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IEEE Access, 2023</a:t>
                      </a:r>
                      <a:endParaRPr cap="none" dirty="0" sz="2400" lang="en-IN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Intelligent phishing detection using URL/HTML feature engineering, Machine Learning, Deep Learning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4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4194305" name="Google Shape;121;p5"/>
          <p:cNvGraphicFramePr>
            <a:graphicFrameLocks/>
          </p:cNvGraphicFramePr>
          <p:nvPr/>
        </p:nvGraphicFramePr>
        <p:xfrm>
          <a:off x="0" y="708000"/>
          <a:ext cx="12192001" cy="6126510"/>
        </p:xfrm>
        <a:graphic>
          <a:graphicData uri="http://schemas.openxmlformats.org/drawingml/2006/table">
            <a:tbl>
              <a:tblPr firstRow="1" bandRow="1">
                <a:noFill/>
                <a:tableStyleId>{3CDD818E-ADFA-4579-856F-A3140DA02BD1}</a:tableStyleId>
              </a:tblPr>
              <a:tblGrid>
                <a:gridCol w="3027179"/>
                <a:gridCol w="3027179"/>
                <a:gridCol w="3027179"/>
                <a:gridCol w="3110464"/>
              </a:tblGrid>
              <a:tr h="540937">
                <a:tc>
                  <a:txBody>
                    <a:bodyPr/>
                    <a:p>
                      <a:pPr algn="ctr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dirty="0" sz="2400" lang="en-US" strike="noStrike" u="none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Arial Narrow"/>
                          <a:cs typeface="Times New Roman" panose="02020603050405020304" pitchFamily="18" charset="0"/>
                          <a:sym typeface="Arial Narrow"/>
                        </a:rPr>
                        <a:t>TITLE OF PAPER</a:t>
                      </a: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ctr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dirty="0" sz="2400" lang="en-US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Arial Narrow"/>
                          <a:cs typeface="Times New Roman" panose="02020603050405020304" pitchFamily="18" charset="0"/>
                          <a:sym typeface="Arial Narrow"/>
                        </a:rPr>
                        <a:t>AUTHOR(S)</a:t>
                      </a: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ctr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dirty="0" sz="2400" lang="en-US" strike="noStrike" u="none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Arial Narrow"/>
                          <a:cs typeface="Times New Roman" panose="02020603050405020304" pitchFamily="18" charset="0"/>
                          <a:sym typeface="Arial Narrow"/>
                        </a:rPr>
                        <a:t>PAPER GIST</a:t>
                      </a: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ctr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2400" lang="en-US" strike="noStrike" u="none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Arial Narrow"/>
                          <a:cs typeface="Times New Roman" panose="02020603050405020304" pitchFamily="18" charset="0"/>
                          <a:sym typeface="Arial Narrow"/>
                        </a:rPr>
                        <a:t>TECHNOLOGY USED</a:t>
                      </a:r>
                      <a:endParaRPr cap="none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</a:tr>
              <a:tr h="697000"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Malicious URL Detection using Machine Learning: A Survey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M. Sahoo, S. Liu, E. H. </a:t>
                      </a:r>
                      <a:r>
                        <a:rPr dirty="0" sz="2400" lang="en-IN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Camtepe</a:t>
                      </a:r>
                      <a:endParaRPr cap="none" dirty="0" sz="2400" lang="en-IN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IN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ACM Computing Surveys, 2023</a:t>
                      </a:r>
                      <a:endParaRPr cap="none" dirty="0" sz="2400" lang="en-IN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Survey of ML methods (SVM, Random Forest, Logistic Regression), feature extraction (lexical, host, content-based)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</a:tr>
              <a:tr h="697000"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Survey of Phishing Attacks: Their Types, Vectors and Technical Approaches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fi-FI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M. A. Moghimi, A. Y. Varjani</a:t>
                      </a:r>
                      <a:endParaRPr cap="none" dirty="0" sz="2400" lang="fi-FI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Expert Systems with Applications (Elsevier), 2018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p>
                      <a:pPr algn="just" defTabSz="914400" eaLnBrk="1" fontAlgn="auto" hangingPunct="1" indent="0" latinLnBrk="0" lvl="0" marL="0" marR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</a:pPr>
                      <a:r>
                        <a:rPr dirty="0" sz="2400"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Phishing detection strategies, feature-based approaches, Machine Learning techniques, technical defenses</a:t>
                      </a:r>
                      <a:endParaRPr cap="none" dirty="0" sz="2400" lang="en-US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  <a:p>
                      <a:pPr algn="just" indent="0" lvl="0" marL="0" marR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dirty="0" sz="2400" lang="en-IN" strike="noStrike" u="none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Arial Narrow"/>
                        <a:cs typeface="Times New Roman" panose="02020603050405020304" pitchFamily="18" charset="0"/>
                        <a:sym typeface="Arial Narrow"/>
                      </a:endParaRPr>
                    </a:p>
                  </a:txBody>
                  <a:tcPr marL="91450" marR="91450" marT="45725" marB="45725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5" name="Google Shape;12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7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16" name="Google Shape;127;p6"/>
          <p:cNvSpPr txBox="1"/>
          <p:nvPr/>
        </p:nvSpPr>
        <p:spPr>
          <a:xfrm>
            <a:off x="0" y="353261"/>
            <a:ext cx="12345600" cy="707846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spAutoFit/>
          </a:bodyPr>
          <a:lstStyle>
            <a:defPPr algn="l"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 sz="4000">
                <a:solidFill>
                  <a:schemeClr val="dk1"/>
                </a:solidFill>
                <a:latin typeface="Arial Narrow"/>
                <a:ea typeface="Arial Narrow"/>
                <a:cs typeface="Arial Narrow"/>
              </a:defRPr>
            </a:lvl1pPr>
          </a:lstStyle>
          <a:p>
            <a:r>
              <a:rPr dirty="0" lang="en-US">
                <a:sym typeface="Arial Narrow"/>
              </a:rPr>
              <a:t>EXISTING SYSTEM </a:t>
            </a:r>
            <a:r>
              <a:rPr dirty="0" lang="en-US"/>
              <a:t>ARCHITECTURE</a:t>
            </a:r>
            <a:endParaRPr dirty="0">
              <a:sym typeface="Arial Narrow"/>
            </a:endParaRPr>
          </a:p>
        </p:txBody>
      </p:sp>
      <p:sp>
        <p:nvSpPr>
          <p:cNvPr id="1048617" name="Rectangle 3"/>
          <p:cNvSpPr>
            <a:spLocks noChangeArrowheads="1"/>
          </p:cNvSpPr>
          <p:nvPr/>
        </p:nvSpPr>
        <p:spPr bwMode="auto">
          <a:xfrm>
            <a:off x="560800" y="2087483"/>
            <a:ext cx="11223998" cy="3242491"/>
          </a:xfrm>
          <a:prstGeom prst="rect"/>
          <a:noFill/>
          <a:ln>
            <a:noFill/>
          </a:ln>
          <a:effectLst/>
        </p:spPr>
        <p:txBody>
          <a:bodyPr anchor="ctr" anchorCtr="0" bIns="45720" compatLnSpc="1" lIns="91440" numCol="1" rIns="91440" tIns="45720" vert="horz" wrap="square">
            <a:prstTxWarp prst="textNoShape"/>
            <a:spAutoFit/>
          </a:bodyPr>
          <a:p>
            <a:pPr algn="just" defTabSz="914400" eaLnBrk="0" fontAlgn="base" hangingPunct="0" indent="-514350" latinLnBrk="0" lvl="0" marL="514350" marR="0" rtl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altLang="en-US" baseline="0" b="0" cap="none" dirty="0" sz="2800" i="0" kumimoji="0" lang="en-US" normalizeH="0" strike="noStrike" u="none">
                <a:ln>
                  <a:noFill/>
                </a:ln>
                <a:solidFill>
                  <a:schemeClr val="tx1"/>
                </a:solidFill>
                <a:effectLst/>
                <a:latin typeface="Arial Narrow" panose="020B0606020202030204" pitchFamily="34" charset="0"/>
                <a:cs typeface="Times New Roman" panose="02020603050405020304" pitchFamily="18" charset="0"/>
              </a:rPr>
              <a:t>Depends mainly on static blacklist and whitelist databases.</a:t>
            </a:r>
          </a:p>
          <a:p>
            <a:pPr algn="just" defTabSz="914400" eaLnBrk="0" fontAlgn="base" hangingPunct="0" indent="-514350" latinLnBrk="0" lvl="0" marL="514350" marR="0" rtl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altLang="en-US" baseline="0" b="0" cap="none" dirty="0" sz="2800" i="0" kumimoji="0" lang="en-US" normalizeH="0" strike="noStrike" u="none">
                <a:ln>
                  <a:noFill/>
                </a:ln>
                <a:solidFill>
                  <a:schemeClr val="tx1"/>
                </a:solidFill>
                <a:effectLst/>
                <a:latin typeface="Arial Narrow" panose="020B0606020202030204" pitchFamily="34" charset="0"/>
                <a:cs typeface="Times New Roman" panose="02020603050405020304" pitchFamily="18" charset="0"/>
              </a:rPr>
              <a:t>Updates from external sources cause delay in detecting new phishing URLs.</a:t>
            </a:r>
          </a:p>
          <a:p>
            <a:pPr algn="just" defTabSz="914400" eaLnBrk="0" fontAlgn="base" hangingPunct="0" indent="-514350" latinLnBrk="0" lvl="0" marL="514350" marR="0" rtl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altLang="en-US" baseline="0" b="0" cap="none" dirty="0" sz="2800" i="0" kumimoji="0" lang="en-US" normalizeH="0" strike="noStrike" u="none">
                <a:ln>
                  <a:noFill/>
                </a:ln>
                <a:solidFill>
                  <a:schemeClr val="tx1"/>
                </a:solidFill>
                <a:effectLst/>
                <a:latin typeface="Arial Narrow" panose="020B0606020202030204" pitchFamily="34" charset="0"/>
                <a:cs typeface="Times New Roman" panose="02020603050405020304" pitchFamily="18" charset="0"/>
              </a:rPr>
              <a:t>No AI-based prediction or adaptive detection layer present.</a:t>
            </a:r>
          </a:p>
          <a:p>
            <a:pPr algn="just" defTabSz="914400" eaLnBrk="0" fontAlgn="base" hangingPunct="0" indent="-514350" latinLnBrk="0" lvl="0" marL="514350" marR="0" rtl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altLang="en-US" baseline="0" b="0" cap="none" dirty="0" sz="2800" i="0" kumimoji="0" lang="en-US" normalizeH="0" strike="noStrike" u="none">
                <a:ln>
                  <a:noFill/>
                </a:ln>
                <a:solidFill>
                  <a:schemeClr val="tx1"/>
                </a:solidFill>
                <a:effectLst/>
                <a:latin typeface="Arial Narrow" panose="020B0606020202030204" pitchFamily="34" charset="0"/>
                <a:cs typeface="Times New Roman" panose="02020603050405020304" pitchFamily="18" charset="0"/>
              </a:rPr>
              <a:t>SSL/TLS checks are limited or completely missing in many tools.</a:t>
            </a:r>
          </a:p>
          <a:p>
            <a:pPr algn="just" defTabSz="914400" eaLnBrk="0" fontAlgn="base" hangingPunct="0" indent="-514350" latinLnBrk="0" lvl="0" marL="514350" marR="0" rtl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altLang="en-US" baseline="0" b="0" cap="none" dirty="0" sz="2800" i="0" kumimoji="0" lang="en-US" normalizeH="0" strike="noStrike" u="none">
                <a:ln>
                  <a:noFill/>
                </a:ln>
                <a:solidFill>
                  <a:schemeClr val="tx1"/>
                </a:solidFill>
                <a:effectLst/>
                <a:latin typeface="Arial Narrow" panose="020B0606020202030204" pitchFamily="34" charset="0"/>
                <a:cs typeface="Times New Roman" panose="02020603050405020304" pitchFamily="18" charset="0"/>
              </a:rPr>
              <a:t>Results in slower response and higher chances of phishing success.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6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0" name="Google Shape;12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8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21" name="Google Shape;127;p6"/>
          <p:cNvSpPr txBox="1"/>
          <p:nvPr/>
        </p:nvSpPr>
        <p:spPr>
          <a:xfrm>
            <a:off x="0" y="307361"/>
            <a:ext cx="12345600" cy="707846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spAutoFit/>
          </a:bodyPr>
          <a:lstStyle>
            <a:defPPr algn="l"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defRPr b="1" sz="4000">
                <a:solidFill>
                  <a:schemeClr val="dk1"/>
                </a:solidFill>
                <a:latin typeface="Arial Narrow"/>
                <a:ea typeface="Arial Narrow"/>
                <a:cs typeface="Arial Narrow"/>
              </a:defRPr>
            </a:lvl1pPr>
          </a:lstStyle>
          <a:p>
            <a:r>
              <a:rPr dirty="0" lang="en-US">
                <a:sym typeface="Arial Narrow"/>
              </a:rPr>
              <a:t>PROBLEM IDENTIFICAITON</a:t>
            </a:r>
            <a:endParaRPr dirty="0">
              <a:sym typeface="Arial Narrow"/>
            </a:endParaRPr>
          </a:p>
        </p:txBody>
      </p:sp>
      <p:sp>
        <p:nvSpPr>
          <p:cNvPr id="1048622" name="TextBox 2"/>
          <p:cNvSpPr txBox="1"/>
          <p:nvPr/>
        </p:nvSpPr>
        <p:spPr>
          <a:xfrm>
            <a:off x="955909" y="2105859"/>
            <a:ext cx="10787742" cy="3159839"/>
          </a:xfrm>
          <a:prstGeom prst="rect"/>
          <a:noFill/>
        </p:spPr>
        <p:txBody>
          <a:bodyPr wrap="square">
            <a:spAutoFit/>
          </a:bodyPr>
          <a:p>
            <a:pPr algn="just" indent="0" lvl="0" marL="0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None/>
            </a:pPr>
            <a:r>
              <a:rPr dirty="0" sz="2800" lang="en-US">
                <a:latin typeface="Arial Narrow" panose="020B0606020202030204" pitchFamily="34" charset="0"/>
                <a:cs typeface="Times New Roman" panose="02020603050405020304" pitchFamily="18" charset="0"/>
              </a:rPr>
              <a:t>1. Existing system fails to identify newly created phishing sites.</a:t>
            </a:r>
          </a:p>
          <a:p>
            <a:pPr algn="just" lvl="0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Clr>
                <a:schemeClr val="dk1"/>
              </a:buClr>
              <a:buSzPts val="2800"/>
            </a:pPr>
            <a:r>
              <a:rPr dirty="0" sz="2800" lang="en-US">
                <a:latin typeface="Arial Narrow" panose="020B0606020202030204" pitchFamily="34" charset="0"/>
                <a:cs typeface="Times New Roman" panose="02020603050405020304" pitchFamily="18" charset="0"/>
              </a:rPr>
              <a:t>2. Dependence on third-party databases delays warning generation.</a:t>
            </a:r>
          </a:p>
          <a:p>
            <a:pPr algn="just" lvl="0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Clr>
                <a:schemeClr val="dk1"/>
              </a:buClr>
              <a:buSzPts val="2800"/>
            </a:pPr>
            <a:r>
              <a:rPr dirty="0" sz="2800" lang="en-US">
                <a:latin typeface="Arial Narrow" panose="020B0606020202030204" pitchFamily="34" charset="0"/>
                <a:cs typeface="Times New Roman" panose="02020603050405020304" pitchFamily="18" charset="0"/>
              </a:rPr>
              <a:t>3. Absence of dynamic learning reduces accuracy.</a:t>
            </a:r>
          </a:p>
          <a:p>
            <a:pPr algn="just" lvl="0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Clr>
                <a:schemeClr val="dk1"/>
              </a:buClr>
              <a:buSzPts val="2800"/>
            </a:pPr>
            <a:r>
              <a:rPr dirty="0" sz="2800" lang="en-US">
                <a:latin typeface="Arial Narrow" panose="020B0606020202030204" pitchFamily="34" charset="0"/>
                <a:cs typeface="Times New Roman" panose="02020603050405020304" pitchFamily="18" charset="0"/>
              </a:rPr>
              <a:t>4. Limited SSL verification affects trust assessment.</a:t>
            </a:r>
          </a:p>
          <a:p>
            <a:pPr algn="just" lvl="0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Clr>
                <a:schemeClr val="dk1"/>
              </a:buClr>
              <a:buSzPts val="2800"/>
            </a:pPr>
            <a:r>
              <a:rPr dirty="0" sz="2800" lang="en-US">
                <a:latin typeface="Arial Narrow" panose="020B0606020202030204" pitchFamily="34" charset="0"/>
                <a:cs typeface="Times New Roman" panose="02020603050405020304" pitchFamily="18" charset="0"/>
              </a:rPr>
              <a:t>5. No single lightweight solution integrates all key detection layers.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5" name="Google Shape;13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9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26" name="Google Shape;133;p7"/>
          <p:cNvSpPr txBox="1"/>
          <p:nvPr/>
        </p:nvSpPr>
        <p:spPr>
          <a:xfrm>
            <a:off x="-1" y="0"/>
            <a:ext cx="12192000" cy="7080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spAutoFit/>
          </a:bodyPr>
          <a:p>
            <a:pPr algn="ctr" lvl="0"/>
            <a:r>
              <a:rPr b="1" dirty="0" sz="4000" lang="en-US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PROPOSED </a:t>
            </a:r>
            <a:r>
              <a:rPr b="1" sz="4000" lang="en-US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SYSTEM </a:t>
            </a:r>
            <a:r>
              <a:rPr b="1" dirty="0" sz="4000" lang="en-US">
                <a:solidFill>
                  <a:schemeClr val="dk1"/>
                </a:solidFill>
                <a:latin typeface="Arial Narrow"/>
              </a:rPr>
              <a:t>ARCHITECTURE</a:t>
            </a:r>
            <a:endParaRPr b="1" dirty="0" sz="4000">
              <a:solidFill>
                <a:schemeClr val="dk1"/>
              </a:solidFill>
              <a:latin typeface="Arial Narrow"/>
              <a:sym typeface="Arial Narrow"/>
            </a:endParaRPr>
          </a:p>
        </p:txBody>
      </p:sp>
      <p:pic>
        <p:nvPicPr>
          <p:cNvPr id="2097154" name="Picture 1" descr="A diagram of a software application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185893" y="776560"/>
            <a:ext cx="11820211" cy="5762352"/>
          </a:xfrm>
          <a:prstGeom prst="rect"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3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7" name="Google Shape;138;p8"/>
          <p:cNvSpPr txBox="1">
            <a:spLocks noGrp="1"/>
          </p:cNvSpPr>
          <p:nvPr>
            <p:ph type="title"/>
          </p:nvPr>
        </p:nvSpPr>
        <p:spPr>
          <a:xfrm>
            <a:off x="0" y="136525"/>
            <a:ext cx="12192000" cy="8238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indent="0" lvl="0" mar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SOFTWARE AND HARDWARE REQUIREMENTS </a:t>
            </a:r>
            <a:endParaRPr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48638" name="Google Shape;139;p8"/>
          <p:cNvSpPr txBox="1">
            <a:spLocks noGrp="1"/>
          </p:cNvSpPr>
          <p:nvPr>
            <p:ph type="body" idx="2"/>
          </p:nvPr>
        </p:nvSpPr>
        <p:spPr>
          <a:xfrm>
            <a:off x="265938" y="2671762"/>
            <a:ext cx="5157900" cy="36846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ctr" indent="0" lvl="0" mar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HARDWARE</a:t>
            </a:r>
          </a:p>
          <a:p>
            <a:pPr algn="ctr" indent="0" lvl="0" mar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dirty="0" lang="en-US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  <a:p>
            <a:pPr algn="l" indent="0" lvl="0" mar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1. 4 GB RAM</a:t>
            </a:r>
            <a:endParaRPr dirty="0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  <a:p>
            <a:pPr indent="0" lvl="0" marL="0"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2.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 Intel i3 Processor or above</a:t>
            </a:r>
            <a:endParaRPr dirty="0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  <a:p>
            <a:pPr indent="0" lvl="0" marL="0"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3.</a:t>
            </a:r>
            <a:r>
              <a:rPr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 CPU Dual-core or higher</a:t>
            </a:r>
          </a:p>
          <a:p>
            <a:pPr indent="0" lvl="0" marL="0">
              <a:buClr>
                <a:srgbClr val="FF0000"/>
              </a:buClr>
              <a:buSzPts val="2800"/>
              <a:buNone/>
            </a:pPr>
            <a:r>
              <a:rPr dirty="0" lang="en-IN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4.Strorage 500 MB(development)</a:t>
            </a:r>
            <a:endParaRPr dirty="0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</p:txBody>
      </p:sp>
      <p:sp>
        <p:nvSpPr>
          <p:cNvPr id="1048639" name="Google Shape;140;p8"/>
          <p:cNvSpPr txBox="1">
            <a:spLocks noGrp="1"/>
          </p:cNvSpPr>
          <p:nvPr>
            <p:ph type="body" idx="4"/>
          </p:nvPr>
        </p:nvSpPr>
        <p:spPr>
          <a:xfrm>
            <a:off x="7008900" y="2671750"/>
            <a:ext cx="5183100" cy="3684600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ctr" indent="0" lvl="0" mar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SOFTWARE</a:t>
            </a:r>
            <a:endParaRPr b="1" dirty="0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  <a:p>
            <a:pPr algn="l" indent="0" lvl="0" mar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endParaRPr dirty="0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  <a:p>
            <a:pPr indent="0" lvl="0" marL="0">
              <a:spcBef>
                <a:spcPts val="0"/>
              </a:spcBef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1.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 Chrome Browser &amp; Extension Developer Tools</a:t>
            </a:r>
            <a:endParaRPr dirty="0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2. Python (</a:t>
            </a:r>
            <a:r>
              <a:rPr dirty="0" lang="en-US" err="1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FastAPI</a:t>
            </a:r>
            <a:r>
              <a:rPr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 ,scikit-learn)</a:t>
            </a:r>
            <a:endParaRPr dirty="0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Arial Narrow"/>
                <a:cs typeface="Times New Roman" panose="02020603050405020304" pitchFamily="18" charset="0"/>
                <a:sym typeface="Arial Narrow"/>
              </a:rPr>
              <a:t>3. Node.js runtime</a:t>
            </a:r>
            <a:endParaRPr dirty="0">
              <a:latin typeface="Arial Narrow" panose="020B0606020202030204" pitchFamily="34" charset="0"/>
              <a:ea typeface="Arial Narrow"/>
              <a:cs typeface="Times New Roman" panose="02020603050405020304" pitchFamily="18" charset="0"/>
              <a:sym typeface="Arial Narrow"/>
            </a:endParaRPr>
          </a:p>
        </p:txBody>
      </p:sp>
      <p:sp>
        <p:nvSpPr>
          <p:cNvPr id="1048640" name="Google Shape;141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10</a:t>
            </a:fld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3" name="Google Shape;146;p9"/>
          <p:cNvSpPr txBox="1">
            <a:spLocks noGrp="1"/>
          </p:cNvSpPr>
          <p:nvPr>
            <p:ph type="title"/>
          </p:nvPr>
        </p:nvSpPr>
        <p:spPr>
          <a:xfrm>
            <a:off x="0" y="609600"/>
            <a:ext cx="12192000" cy="6186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indent="0" lvl="0" mar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MODULES </a:t>
            </a:r>
            <a:endParaRPr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48644" name="Google Shape;147;p9"/>
          <p:cNvSpPr txBox="1">
            <a:spLocks noGrp="1"/>
          </p:cNvSpPr>
          <p:nvPr>
            <p:ph type="body" idx="1"/>
          </p:nvPr>
        </p:nvSpPr>
        <p:spPr>
          <a:xfrm>
            <a:off x="2931242" y="1897062"/>
            <a:ext cx="6329516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indent="0" marL="0">
              <a:spcBef>
                <a:spcPts val="0"/>
              </a:spcBef>
              <a:spcAft>
                <a:spcPts val="1200"/>
              </a:spcAft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1.</a:t>
            </a:r>
            <a:r>
              <a:rPr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 URL Input &amp; Monitoring Module</a:t>
            </a:r>
            <a:endParaRPr dirty="0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indent="0" lvl="0" marL="0">
              <a:spcAft>
                <a:spcPts val="1200"/>
              </a:spcAft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2.</a:t>
            </a:r>
            <a:r>
              <a:rPr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 Backend API Module</a:t>
            </a:r>
            <a:endParaRPr dirty="0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indent="0" marL="0">
              <a:spcAft>
                <a:spcPts val="1200"/>
              </a:spcAft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3.</a:t>
            </a:r>
            <a:r>
              <a:rPr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 AI Model Module</a:t>
            </a:r>
            <a:endParaRPr dirty="0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indent="0" marL="0">
              <a:spcAft>
                <a:spcPts val="1200"/>
              </a:spcAft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4.</a:t>
            </a:r>
            <a:r>
              <a:rPr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 Blacklist/Whitelist Database Module</a:t>
            </a:r>
            <a:endParaRPr dirty="0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indent="0" marL="0">
              <a:spcAft>
                <a:spcPts val="1200"/>
              </a:spcAft>
              <a:buClr>
                <a:srgbClr val="FF0000"/>
              </a:buClr>
              <a:buSzPts val="2800"/>
              <a:buNone/>
            </a:pPr>
            <a:r>
              <a:rPr dirty="0" lang="en-US">
                <a:latin typeface="Arial Narrow" panose="020B0606020202030204" pitchFamily="34" charset="0"/>
                <a:ea typeface="Times New Roman"/>
                <a:cs typeface="Times New Roman" panose="02020603050405020304" pitchFamily="18" charset="0"/>
                <a:sym typeface="Times New Roman"/>
              </a:rPr>
              <a:t>5.</a:t>
            </a:r>
            <a:r>
              <a:rPr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 SSL/TLS Verification Module</a:t>
            </a:r>
          </a:p>
        </p:txBody>
      </p:sp>
      <p:sp>
        <p:nvSpPr>
          <p:cNvPr id="1048645" name="Google Shape;148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11</a:t>
            </a:fld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9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8" name="Google Shape;153;p10"/>
          <p:cNvSpPr txBox="1">
            <a:spLocks noGrp="1"/>
          </p:cNvSpPr>
          <p:nvPr>
            <p:ph type="title"/>
          </p:nvPr>
        </p:nvSpPr>
        <p:spPr>
          <a:xfrm>
            <a:off x="0" y="681037"/>
            <a:ext cx="12192000" cy="5664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lvl="0">
              <a:buSzPct val="100000"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IMPLEMENTATION OF MODULE-1</a:t>
            </a:r>
            <a:endParaRPr b="1"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48649" name="Google Shape;154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just" indent="0" lvl="0" marL="0">
              <a:spcBef>
                <a:spcPts val="0"/>
              </a:spcBef>
              <a:buClr>
                <a:srgbClr val="FF0000"/>
              </a:buClr>
              <a:buSzPts val="2800"/>
              <a:buNone/>
            </a:pPr>
            <a:r>
              <a:rPr b="1"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Module 1 – URL Input &amp; Monitoring</a:t>
            </a:r>
          </a:p>
          <a:p>
            <a:pPr algn="just" indent="0" lvl="0" marL="0">
              <a:spcBef>
                <a:spcPts val="0"/>
              </a:spcBef>
              <a:buClr>
                <a:srgbClr val="FF0000"/>
              </a:buClr>
              <a:buSzPts val="2800"/>
              <a:buNone/>
            </a:pPr>
            <a:endParaRPr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Listens for browser tab updates and instantly captures the currently active URL for scanning.</a:t>
            </a: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Allows users to manually enter URLs via the extension popup and securely sends them to the backend API for analysis.</a:t>
            </a: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Displays a live status badge on the browser toolbar (safe, suspicious, phishing) to provide quick and clear feedback to the user.</a:t>
            </a:r>
            <a:endParaRPr dirty="0">
              <a:latin typeface="Arial Narrow" panose="020B0606020202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48650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12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51" name="AutoShape 4"/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/>
          <a:noFill/>
        </p:spPr>
        <p:txBody>
          <a:bodyPr anchor="t" anchorCtr="0" bIns="45720" compatLnSpc="1" lIns="91440" numCol="1" rIns="91440" tIns="45720" vert="horz" wrap="square">
            <a:prstTxWarp prst="textNoShape"/>
          </a:bodyPr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2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160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indent="0" lvl="0" marL="0">
              <a:spcBef>
                <a:spcPts val="0"/>
              </a:spcBef>
              <a:buClr>
                <a:srgbClr val="FF0000"/>
              </a:buClr>
              <a:buSzPts val="2800"/>
              <a:buNone/>
            </a:pPr>
            <a:r>
              <a:rPr b="1"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Module 2 – Backend API</a:t>
            </a:r>
          </a:p>
          <a:p>
            <a:pPr indent="-514350" lvl="0" marL="514350">
              <a:spcBef>
                <a:spcPts val="0"/>
              </a:spcBef>
              <a:buClr>
                <a:srgbClr val="FF0000"/>
              </a:buClr>
              <a:buSzPts val="2800"/>
              <a:buFont typeface="+mj-lt"/>
              <a:buAutoNum type="arabicPeriod"/>
            </a:pPr>
            <a:endParaRPr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algn="just" indent="-514350" marL="51435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SzPts val="2800"/>
              <a:buFont typeface="+mj-lt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Receives the incoming URL from the extension and extracts all required lexical, domain, and SSL-based features.</a:t>
            </a:r>
          </a:p>
          <a:p>
            <a:pPr algn="just" indent="-514350" marL="51435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SzPts val="2800"/>
              <a:buFont typeface="+mj-lt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Efficiently communicates with both the AI model and PostgreSQL database to deliver quick and accurate results.</a:t>
            </a:r>
          </a:p>
          <a:p>
            <a:pPr algn="just" indent="-514350" marL="51435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SzPts val="2800"/>
              <a:buFont typeface="+mj-lt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Stores every scan result with timestamp and prediction details to support logging, analytics, and model improvement.</a:t>
            </a:r>
          </a:p>
          <a:p>
            <a:pPr indent="0" lvl="0" marL="0">
              <a:spcBef>
                <a:spcPts val="0"/>
              </a:spcBef>
              <a:buClr>
                <a:srgbClr val="FF0000"/>
              </a:buClr>
              <a:buSzPts val="2800"/>
              <a:buNone/>
            </a:pPr>
            <a:endParaRPr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48655" name="Google Shape;16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13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56" name="Google Shape;162;p11"/>
          <p:cNvSpPr txBox="1">
            <a:spLocks noGrp="1"/>
          </p:cNvSpPr>
          <p:nvPr>
            <p:ph type="title"/>
          </p:nvPr>
        </p:nvSpPr>
        <p:spPr>
          <a:xfrm>
            <a:off x="0" y="681037"/>
            <a:ext cx="12192000" cy="5664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lvl="0">
              <a:buSzPct val="100000"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IMPLEMENTATION OF MODULE-2</a:t>
            </a:r>
            <a:endParaRPr b="1"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5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167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indent="0" lvl="0" marL="0">
              <a:spcBef>
                <a:spcPts val="0"/>
              </a:spcBef>
              <a:buSzPts val="2800"/>
              <a:buNone/>
            </a:pPr>
            <a:r>
              <a:rPr b="1"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Module 3 – AI Model</a:t>
            </a:r>
          </a:p>
          <a:p>
            <a:pPr indent="0" lvl="0" marL="0">
              <a:spcBef>
                <a:spcPts val="0"/>
              </a:spcBef>
              <a:buSzPts val="2800"/>
              <a:buNone/>
            </a:pPr>
            <a:endParaRPr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Uses a pre-trained Random Forest classifier trained on thousands of URL samples for better prediction accuracy.</a:t>
            </a: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Analyzes multiple attributes such as URL length, HTTPS status, suspicious characters, and domain reputation to compute phishing probability.</a:t>
            </a: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Returns a precise prediction score back to the backend, ensuring intelligent real-time decision-making for user safety.</a:t>
            </a:r>
            <a:endParaRPr dirty="0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algn="l" indent="0" lvl="0" mar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>
              <a:latin typeface="Arial Narrow" panose="020B0606020202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48660" name="Google Shape;16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14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61" name="Google Shape;169;p12"/>
          <p:cNvSpPr txBox="1">
            <a:spLocks noGrp="1"/>
          </p:cNvSpPr>
          <p:nvPr>
            <p:ph type="title"/>
          </p:nvPr>
        </p:nvSpPr>
        <p:spPr>
          <a:xfrm>
            <a:off x="0" y="681037"/>
            <a:ext cx="12192000" cy="5664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lvl="0">
              <a:buSzPct val="100000"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IMPLEMENTATION OF MODULE-3</a:t>
            </a:r>
            <a:endParaRPr b="1"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4" name="Google Shape;174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indent="0" lvl="0" marL="0">
              <a:spcBef>
                <a:spcPts val="0"/>
              </a:spcBef>
              <a:buSzPts val="2800"/>
              <a:buNone/>
            </a:pPr>
            <a:r>
              <a:rPr b="1"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Module 4 – Blacklist/Whitelist</a:t>
            </a:r>
          </a:p>
          <a:p>
            <a:pPr indent="0" lvl="0" marL="0">
              <a:spcBef>
                <a:spcPts val="0"/>
              </a:spcBef>
              <a:buSzPts val="2800"/>
              <a:buNone/>
            </a:pPr>
            <a:endParaRPr b="1"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Maintains an updated list of verified safe domains and known malicious ones in the PostgreSQL database.</a:t>
            </a: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Performs rapid lookups before AI model execution to save time and reduce unnecessary computations.</a:t>
            </a: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Automatically updates from trusted sources and ensures consistent performance with minimal false detections.</a:t>
            </a:r>
          </a:p>
          <a:p>
            <a:pPr indent="0" lvl="0" marL="0">
              <a:buSzPts val="2800"/>
              <a:buNone/>
            </a:pPr>
            <a:endParaRPr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48665" name="Google Shape;175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15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66" name="Google Shape;176;p13"/>
          <p:cNvSpPr txBox="1">
            <a:spLocks noGrp="1"/>
          </p:cNvSpPr>
          <p:nvPr>
            <p:ph type="title"/>
          </p:nvPr>
        </p:nvSpPr>
        <p:spPr>
          <a:xfrm>
            <a:off x="0" y="570271"/>
            <a:ext cx="12192000" cy="5664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lvl="0">
              <a:buSzPct val="100000"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IMPLEMENTATION OF MODULE-4</a:t>
            </a:r>
            <a:endParaRPr b="1"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9" name="Google Shape;18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indent="0" lvl="0" marL="0">
              <a:spcBef>
                <a:spcPts val="0"/>
              </a:spcBef>
              <a:buSzPts val="2800"/>
              <a:buNone/>
            </a:pPr>
            <a:r>
              <a:rPr b="1" dirty="0" lang="en-IN">
                <a:latin typeface="Arial Narrow" panose="020B0606020202030204" pitchFamily="34" charset="0"/>
                <a:cs typeface="Times New Roman" panose="02020603050405020304" pitchFamily="18" charset="0"/>
              </a:rPr>
              <a:t>Module 5 – SSL/TLS Verification</a:t>
            </a:r>
          </a:p>
          <a:p>
            <a:pPr indent="0" lvl="0" marL="0">
              <a:spcBef>
                <a:spcPts val="0"/>
              </a:spcBef>
              <a:buSzPts val="2800"/>
              <a:buNone/>
            </a:pPr>
            <a:endParaRPr b="1"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Fetches SSL certificate details such as issuer, validity period, and encryption strength for each scanned URL.</a:t>
            </a: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Evaluates the trust level of the certificate by checking for expired, invalid, or self-signed certificates.</a:t>
            </a:r>
          </a:p>
          <a:p>
            <a:pPr algn="just" indent="-514350" lvl="0" marL="514350">
              <a:spcBef>
                <a:spcPts val="0"/>
              </a:spcBef>
              <a:spcAft>
                <a:spcPts val="12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Flags and reports suspicious domains with poor SSL configurations to enhance browser-level phishing prevention.</a:t>
            </a:r>
          </a:p>
          <a:p>
            <a:pPr indent="0" lvl="0" marL="0">
              <a:buSzPts val="2800"/>
              <a:buNone/>
            </a:pPr>
            <a:endParaRPr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48670" name="Google Shape;182;p14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dk1"/>
                </a:solidFill>
              </a:rPr>
              <a:t>16</a:t>
            </a:fld>
            <a:endParaRPr b="1">
              <a:solidFill>
                <a:schemeClr val="dk1"/>
              </a:solidFill>
            </a:endParaRPr>
          </a:p>
        </p:txBody>
      </p:sp>
      <p:sp>
        <p:nvSpPr>
          <p:cNvPr id="1048671" name="Google Shape;183;p14"/>
          <p:cNvSpPr txBox="1">
            <a:spLocks noGrp="1"/>
          </p:cNvSpPr>
          <p:nvPr>
            <p:ph type="title"/>
          </p:nvPr>
        </p:nvSpPr>
        <p:spPr>
          <a:xfrm>
            <a:off x="0" y="681037"/>
            <a:ext cx="12192000" cy="5664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lvl="0">
              <a:buSzPct val="100000"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IMPLEMENTATION OF MODULE-5</a:t>
            </a:r>
            <a:endParaRPr b="1"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4" name="Rectangle 8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dirty="0" lang="en-US"/>
          </a:p>
        </p:txBody>
      </p:sp>
      <p:grpSp>
        <p:nvGrpSpPr>
          <p:cNvPr id="85" name="Group 10"/>
          <p:cNvGrpSpPr>
            <a:grpSpLocks noMove="1" noResize="1" noRot="1" noGrp="1" noChangeAspect="1"/>
          </p:cNvGrpSpPr>
          <p:nvPr/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1048675" name="Freeform: Shape 11"/>
            <p:cNvSpPr/>
            <p:nvPr/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p>
              <a:pPr algn="ctr"/>
              <a:endParaRPr lang="en-US"/>
            </a:p>
          </p:txBody>
        </p:sp>
        <p:sp>
          <p:nvSpPr>
            <p:cNvPr id="1048676" name="Rectangle 12"/>
            <p:cNvSpPr/>
            <p:nvPr/>
          </p:nvSpPr>
          <p:spPr>
            <a:xfrm rot="2700000">
              <a:off x="301285" y="1282788"/>
              <a:ext cx="485578" cy="485578"/>
            </a:xfrm>
            <a:prstGeom prst="rect"/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p>
              <a:pPr algn="ctr"/>
              <a:endParaRPr lang="en-US"/>
            </a:p>
          </p:txBody>
        </p:sp>
      </p:grpSp>
      <p:sp>
        <p:nvSpPr>
          <p:cNvPr id="1048677" name="Rectangle 14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2700000">
            <a:off x="2737196" y="6033666"/>
            <a:ext cx="645368" cy="645368"/>
          </a:xfrm>
          <a:prstGeom prst="rect"/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sp>
        <p:nvSpPr>
          <p:cNvPr id="1048678" name="Isosceles Triangle 16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pic>
        <p:nvPicPr>
          <p:cNvPr id="2097155" name="Picture 3" descr="A screenshot of a computer  AI-generated content may be incorrect.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864952" y="643467"/>
            <a:ext cx="10462095" cy="5571065"/>
          </a:xfrm>
          <a:prstGeom prst="rect"/>
          <a:ln>
            <a:noFill/>
          </a:ln>
        </p:spPr>
      </p:pic>
      <p:sp>
        <p:nvSpPr>
          <p:cNvPr id="1048679" name="Slide Number Placeholder 1"/>
          <p:cNvSpPr>
            <a:spLocks noGrp="1"/>
          </p:cNvSpPr>
          <p:nvPr>
            <p:ph type="sldNum" idx="12"/>
          </p:nvPr>
        </p:nvSpPr>
        <p:spPr>
          <a:xfrm>
            <a:off x="8805333" y="6356350"/>
            <a:ext cx="2743200" cy="365125"/>
          </a:xfrm>
        </p:spPr>
        <p:txBody>
          <a:bodyPr>
            <a:normAutofit/>
          </a:bodyPr>
          <a:p>
            <a:pPr indent="0" lvl="0" marL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mtClean="0"/>
              <a:pPr indent="0" lvl="0" marL="0" rtl="0">
                <a:spcBef>
                  <a:spcPts val="0"/>
                </a:spcBef>
                <a:spcAft>
                  <a:spcPts val="600"/>
                </a:spcAft>
                <a:buNone/>
              </a:pPr>
              <a:t>17</a:t>
            </a:fld>
            <a:endParaRPr lang="en-US"/>
          </a:p>
        </p:txBody>
      </p:sp>
    </p:spTree>
  </p:cSld>
  <p:clrMapOvr>
    <a:overrideClrMapping accent1="accent1" accent2="accent2" accent3="accent3" accent4="accent4" accent5="accent5" accent6="accent6" bg1="lt1" bg2="lt2" tx1="dk1" tx2="dk2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0" name="Rectangle 8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dirty="0" lang="en-US"/>
          </a:p>
        </p:txBody>
      </p:sp>
      <p:sp>
        <p:nvSpPr>
          <p:cNvPr id="1048681" name="Freeform: Shape 10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dirty="0" lang="en-US"/>
          </a:p>
        </p:txBody>
      </p:sp>
      <p:sp>
        <p:nvSpPr>
          <p:cNvPr id="1048682" name="Rectangle 12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18900000" flipH="1">
            <a:off x="891641" y="422146"/>
            <a:ext cx="645368" cy="645368"/>
          </a:xfrm>
          <a:prstGeom prst="rect"/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sp>
        <p:nvSpPr>
          <p:cNvPr id="1048683" name="Rectangle 14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18900000" flipH="1">
            <a:off x="10043482" y="655140"/>
            <a:ext cx="687472" cy="687472"/>
          </a:xfrm>
          <a:prstGeom prst="rect"/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sp>
        <p:nvSpPr>
          <p:cNvPr id="1048684" name="Freeform: Shape 16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 wrap="square">
            <a:noAutofit/>
          </a:bodyPr>
          <a:p>
            <a:pPr algn="ctr"/>
            <a:endParaRPr dirty="0" lang="en-US"/>
          </a:p>
        </p:txBody>
      </p:sp>
      <p:sp>
        <p:nvSpPr>
          <p:cNvPr id="1048685" name="Slide Number Placeholder 1"/>
          <p:cNvSpPr>
            <a:spLocks noGrp="1"/>
          </p:cNvSpPr>
          <p:nvPr>
            <p:ph type="sldNum" idx="12"/>
          </p:nvPr>
        </p:nvSpPr>
        <p:spPr>
          <a:xfrm>
            <a:off x="8805333" y="6356350"/>
            <a:ext cx="2743200" cy="365125"/>
          </a:xfrm>
        </p:spPr>
        <p:txBody>
          <a:bodyPr>
            <a:normAutofit/>
          </a:bodyPr>
          <a:p>
            <a:pPr indent="0" lvl="0" marL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mtClean="0"/>
              <a:pPr indent="0" lvl="0" marL="0" rtl="0">
                <a:spcBef>
                  <a:spcPts val="0"/>
                </a:spcBef>
                <a:spcAft>
                  <a:spcPts val="600"/>
                </a:spcAft>
                <a:buNone/>
              </a:pPr>
              <a:t>18</a:t>
            </a:fld>
            <a:endParaRPr lang="en-US"/>
          </a:p>
        </p:txBody>
      </p:sp>
      <p:sp>
        <p:nvSpPr>
          <p:cNvPr id="1048686" name="Isosceles Triangle 18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flipH="1">
            <a:off x="7976344" y="6115501"/>
            <a:ext cx="1494513" cy="742499"/>
          </a:xfrm>
          <a:prstGeom prst="triangle"/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pic>
        <p:nvPicPr>
          <p:cNvPr id="2097156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864952" y="643467"/>
            <a:ext cx="10462095" cy="5571065"/>
          </a:xfrm>
          <a:prstGeom prst="rect"/>
          <a:ln>
            <a:noFill/>
          </a:ln>
        </p:spPr>
      </p:pic>
      <p:sp>
        <p:nvSpPr>
          <p:cNvPr id="1048687" name="Isosceles Triangle 20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flipH="1">
            <a:off x="7604080" y="6453143"/>
            <a:ext cx="814903" cy="404857"/>
          </a:xfrm>
          <a:prstGeom prst="triangle"/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</p:spTree>
  </p:cSld>
  <p:clrMapOvr>
    <a:overrideClrMapping accent1="accent1" accent2="accent2" accent3="accent3" accent4="accent4" accent5="accent5" accent6="accent6" bg1="lt1" bg2="lt2" tx1="dk1" tx2="dk2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8" name="Rectangle 8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dirty="0" lang="en-US"/>
          </a:p>
        </p:txBody>
      </p:sp>
      <p:sp>
        <p:nvSpPr>
          <p:cNvPr id="1048689" name="Freeform: Shape 10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dirty="0" lang="en-US"/>
          </a:p>
        </p:txBody>
      </p:sp>
      <p:sp>
        <p:nvSpPr>
          <p:cNvPr id="1048690" name="Rectangle 12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18900000" flipH="1">
            <a:off x="891641" y="422146"/>
            <a:ext cx="645368" cy="645368"/>
          </a:xfrm>
          <a:prstGeom prst="rect"/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sp>
        <p:nvSpPr>
          <p:cNvPr id="1048691" name="Rectangle 14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18900000" flipH="1">
            <a:off x="10043482" y="655140"/>
            <a:ext cx="687472" cy="687472"/>
          </a:xfrm>
          <a:prstGeom prst="rect"/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sp>
        <p:nvSpPr>
          <p:cNvPr id="1048692" name="Freeform: Shape 16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 wrap="square">
            <a:noAutofit/>
          </a:bodyPr>
          <a:p>
            <a:pPr algn="ctr"/>
            <a:endParaRPr dirty="0" lang="en-US"/>
          </a:p>
        </p:txBody>
      </p:sp>
      <p:sp>
        <p:nvSpPr>
          <p:cNvPr id="1048693" name="Slide Number Placeholder 1"/>
          <p:cNvSpPr>
            <a:spLocks noGrp="1"/>
          </p:cNvSpPr>
          <p:nvPr>
            <p:ph type="sldNum" idx="12"/>
          </p:nvPr>
        </p:nvSpPr>
        <p:spPr>
          <a:xfrm>
            <a:off x="8805333" y="6356350"/>
            <a:ext cx="2743200" cy="365125"/>
          </a:xfrm>
        </p:spPr>
        <p:txBody>
          <a:bodyPr>
            <a:normAutofit/>
          </a:bodyPr>
          <a:p>
            <a:pPr indent="0" lvl="0" marL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mtClean="0"/>
              <a:pPr indent="0" lvl="0" marL="0" rtl="0">
                <a:spcBef>
                  <a:spcPts val="0"/>
                </a:spcBef>
                <a:spcAft>
                  <a:spcPts val="600"/>
                </a:spcAft>
                <a:buNone/>
              </a:pPr>
              <a:t>19</a:t>
            </a:fld>
            <a:endParaRPr lang="en-US"/>
          </a:p>
        </p:txBody>
      </p:sp>
      <p:sp>
        <p:nvSpPr>
          <p:cNvPr id="1048694" name="Isosceles Triangle 18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flipH="1">
            <a:off x="7976344" y="6115501"/>
            <a:ext cx="1494513" cy="742499"/>
          </a:xfrm>
          <a:prstGeom prst="triangle"/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pic>
        <p:nvPicPr>
          <p:cNvPr id="2097157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3507887" y="374048"/>
            <a:ext cx="5025217" cy="6281523"/>
          </a:xfrm>
          <a:prstGeom prst="rect"/>
          <a:ln>
            <a:noFill/>
          </a:ln>
        </p:spPr>
      </p:pic>
      <p:sp>
        <p:nvSpPr>
          <p:cNvPr id="1048695" name="Isosceles Triangle 20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 flipH="1">
            <a:off x="7604080" y="6453143"/>
            <a:ext cx="814903" cy="404857"/>
          </a:xfrm>
          <a:prstGeom prst="triangle"/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</p:spTree>
  </p:cSld>
  <p:clrMapOvr>
    <a:overrideClrMapping accent1="accent1" accent2="accent2" accent3="accent3" accent4="accent4" accent5="accent5" accent6="accent6" bg1="lt1" bg2="lt2" tx1="dk1" tx2="dk2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8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6" name="Google Shape;194;p16"/>
          <p:cNvSpPr txBox="1">
            <a:spLocks noGrp="1"/>
          </p:cNvSpPr>
          <p:nvPr>
            <p:ph type="title"/>
          </p:nvPr>
        </p:nvSpPr>
        <p:spPr>
          <a:xfrm>
            <a:off x="125100" y="389982"/>
            <a:ext cx="12066900" cy="8973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lvl="0">
              <a:buSzPts val="4400"/>
            </a:pPr>
            <a:r>
              <a:rPr b="1" dirty="0" lang="en-US">
                <a:latin typeface="Arial Narrow"/>
              </a:rPr>
              <a:t>FUTURE ENHANCEMENTS </a:t>
            </a:r>
            <a:endParaRPr b="1" dirty="0">
              <a:latin typeface="Arial Narrow"/>
              <a:sym typeface="Arial Narrow"/>
            </a:endParaRPr>
          </a:p>
        </p:txBody>
      </p:sp>
      <p:sp>
        <p:nvSpPr>
          <p:cNvPr id="1048697" name="Google Shape;195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just" indent="-514350" lvl="0" marL="514350">
              <a:spcBef>
                <a:spcPts val="0"/>
              </a:spcBef>
              <a:spcAft>
                <a:spcPts val="18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Integrate NLP-based content analysis to detect phishing pages through text patterns.</a:t>
            </a:r>
          </a:p>
          <a:p>
            <a:pPr algn="just" indent="-514350" lvl="0" marL="514350">
              <a:spcBef>
                <a:spcPts val="0"/>
              </a:spcBef>
              <a:spcAft>
                <a:spcPts val="18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Use cloud-based centralized learning for faster database updates and AI retraining.</a:t>
            </a:r>
          </a:p>
          <a:p>
            <a:pPr algn="just" indent="-514350" lvl="0" marL="514350">
              <a:spcBef>
                <a:spcPts val="0"/>
              </a:spcBef>
              <a:spcAft>
                <a:spcPts val="18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Add support for other browsers like for example Firefox, Edge, and Brave.</a:t>
            </a:r>
          </a:p>
        </p:txBody>
      </p:sp>
      <p:sp>
        <p:nvSpPr>
          <p:cNvPr id="1048698" name="Google Shape;19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chemeClr val="dk1"/>
                </a:solidFill>
              </a:rPr>
              <a:t>20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1" name="Google Shape;194;p16"/>
          <p:cNvSpPr txBox="1">
            <a:spLocks noGrp="1"/>
          </p:cNvSpPr>
          <p:nvPr>
            <p:ph type="title"/>
          </p:nvPr>
        </p:nvSpPr>
        <p:spPr>
          <a:xfrm>
            <a:off x="0" y="389982"/>
            <a:ext cx="12066900" cy="897300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p>
            <a:pPr algn="ctr" indent="0" lvl="0" mar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dirty="0" lang="en-US">
                <a:latin typeface="Arial Narrow"/>
                <a:ea typeface="Arial Narrow"/>
                <a:cs typeface="Arial Narrow"/>
                <a:sym typeface="Arial Narrow"/>
              </a:rPr>
              <a:t>CONCLUSION</a:t>
            </a:r>
            <a:endParaRPr b="1" dirty="0"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48702" name="Google Shape;195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/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p>
            <a:pPr algn="just" indent="-514350" lvl="0" marL="514350">
              <a:spcBef>
                <a:spcPts val="0"/>
              </a:spcBef>
              <a:spcAft>
                <a:spcPts val="18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Our </a:t>
            </a:r>
            <a:r>
              <a:rPr b="1"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AI Powered Phishing Detector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 efficiently detects phishing websites in real time using a combination of machine learning, SSL validation, and blacklist verification. </a:t>
            </a:r>
          </a:p>
          <a:p>
            <a:pPr algn="just" indent="-514350" lvl="0" marL="514350">
              <a:spcBef>
                <a:spcPts val="0"/>
              </a:spcBef>
              <a:spcAft>
                <a:spcPts val="18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The system ensures user safety with accurate predictions while maintaining lightweight performance through its Chrome Extension interface.</a:t>
            </a:r>
          </a:p>
          <a:p>
            <a:pPr algn="just" indent="-514350" lvl="0" marL="514350">
              <a:spcBef>
                <a:spcPts val="0"/>
              </a:spcBef>
              <a:spcAft>
                <a:spcPts val="1800"/>
              </a:spcAft>
              <a:buSzPts val="2800"/>
              <a:buAutoNum type="arabicPeriod"/>
            </a:pP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It provides a </a:t>
            </a:r>
            <a:r>
              <a:rPr b="1"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practical and user-friendly solution </a:t>
            </a:r>
            <a:r>
              <a:rPr dirty="0" lang="en-US">
                <a:latin typeface="Arial Narrow" panose="020B0606020202030204" pitchFamily="34" charset="0"/>
                <a:cs typeface="Times New Roman" panose="02020603050405020304" pitchFamily="18" charset="0"/>
              </a:rPr>
              <a:t>to tackle modern phishing threats and improves upon traditional static detection methods. </a:t>
            </a:r>
          </a:p>
          <a:p>
            <a:pPr indent="0" lvl="0" marL="0">
              <a:buSzPts val="2800"/>
              <a:buNone/>
            </a:pPr>
            <a:endParaRPr dirty="0" lang="en-US">
              <a:latin typeface="Arial Narrow" panose="020B0606020202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48703" name="Google Shape;19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/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chemeClr val="dk1"/>
                </a:solidFill>
              </a:rPr>
              <a:t>21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caleCrop>0</ScaleCrop>
  <LinksUpToDate>0</LinksUpToDate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Saravanan M</dc:creator>
  <cp:lastModifiedBy>ARUN K</cp:lastModifiedBy>
  <dcterms:created xsi:type="dcterms:W3CDTF">2025-11-26T04:59:02Z</dcterms:created>
  <dcterms:modified xsi:type="dcterms:W3CDTF">2025-11-26T04:59:02Z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6325cd48e2fc4621be7330b66bb59db3</vt:lpwstr>
  </property>
</Properties>
</file>